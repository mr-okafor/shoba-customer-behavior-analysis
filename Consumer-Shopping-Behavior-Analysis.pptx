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Brygada 1918" panose="020B0604020202020204" charset="0"/>
      <p:regular r:id="rId12"/>
    </p:embeddedFont>
    <p:embeddedFont>
      <p:font typeface="Libre Baskerville" panose="020B0604020202020204" charset="0"/>
      <p:regular r:id="rId13"/>
    </p:embeddedFont>
    <p:embeddedFont>
      <p:font typeface="Marcellu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451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1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DBF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8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1699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175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BI PORTFOLIO CASE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2093218"/>
            <a:ext cx="10972526" cy="193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7200" kern="0" spc="-36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Consumer Shopping Behavior Analysis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09585" y="4394795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7A5A1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672608"/>
            <a:ext cx="115821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SQL analysis, Power BI dashboarding and business recommendations across 3,900 orders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405037"/>
            <a:ext cx="604877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373709"/>
            <a:ext cx="18901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458" dirty="0"/>
          </a:p>
        </p:txBody>
      </p:sp>
      <p:sp>
        <p:nvSpPr>
          <p:cNvPr id="4" name="Shape 2"/>
          <p:cNvSpPr/>
          <p:nvPr/>
        </p:nvSpPr>
        <p:spPr>
          <a:xfrm>
            <a:off x="661492" y="2669580"/>
            <a:ext cx="3496965" cy="254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661492" y="281483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661492" y="3223519"/>
            <a:ext cx="34969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458" dirty="0"/>
          </a:p>
        </p:txBody>
      </p:sp>
      <p:sp>
        <p:nvSpPr>
          <p:cNvPr id="7" name="Text 5"/>
          <p:cNvSpPr/>
          <p:nvPr/>
        </p:nvSpPr>
        <p:spPr>
          <a:xfrm>
            <a:off x="4347468" y="2373709"/>
            <a:ext cx="18901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458" dirty="0"/>
          </a:p>
        </p:txBody>
      </p:sp>
      <p:sp>
        <p:nvSpPr>
          <p:cNvPr id="8" name="Shape 6"/>
          <p:cNvSpPr/>
          <p:nvPr/>
        </p:nvSpPr>
        <p:spPr>
          <a:xfrm>
            <a:off x="4347468" y="2669580"/>
            <a:ext cx="3496965" cy="254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4347469" y="281483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1833" dirty="0"/>
          </a:p>
        </p:txBody>
      </p:sp>
      <p:sp>
        <p:nvSpPr>
          <p:cNvPr id="10" name="Text 8"/>
          <p:cNvSpPr/>
          <p:nvPr/>
        </p:nvSpPr>
        <p:spPr>
          <a:xfrm>
            <a:off x="4347468" y="3223519"/>
            <a:ext cx="34969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458" dirty="0"/>
          </a:p>
        </p:txBody>
      </p:sp>
      <p:sp>
        <p:nvSpPr>
          <p:cNvPr id="11" name="Text 9"/>
          <p:cNvSpPr/>
          <p:nvPr/>
        </p:nvSpPr>
        <p:spPr>
          <a:xfrm>
            <a:off x="8033444" y="2373709"/>
            <a:ext cx="18901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458" dirty="0"/>
          </a:p>
        </p:txBody>
      </p:sp>
      <p:sp>
        <p:nvSpPr>
          <p:cNvPr id="12" name="Shape 10"/>
          <p:cNvSpPr/>
          <p:nvPr/>
        </p:nvSpPr>
        <p:spPr>
          <a:xfrm>
            <a:off x="8033444" y="2669580"/>
            <a:ext cx="3496965" cy="254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444" y="2814836"/>
            <a:ext cx="275818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8033444" y="3223519"/>
            <a:ext cx="3496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458" dirty="0"/>
          </a:p>
        </p:txBody>
      </p:sp>
      <p:sp>
        <p:nvSpPr>
          <p:cNvPr id="15" name="Text 13"/>
          <p:cNvSpPr/>
          <p:nvPr/>
        </p:nvSpPr>
        <p:spPr>
          <a:xfrm>
            <a:off x="661492" y="4159052"/>
            <a:ext cx="18901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458" dirty="0"/>
          </a:p>
        </p:txBody>
      </p:sp>
      <p:sp>
        <p:nvSpPr>
          <p:cNvPr id="16" name="Shape 14"/>
          <p:cNvSpPr/>
          <p:nvPr/>
        </p:nvSpPr>
        <p:spPr>
          <a:xfrm>
            <a:off x="661492" y="4454922"/>
            <a:ext cx="5339953" cy="254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92" y="4600178"/>
            <a:ext cx="24620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833" dirty="0"/>
          </a:p>
        </p:txBody>
      </p:sp>
      <p:sp>
        <p:nvSpPr>
          <p:cNvPr id="18" name="Text 16"/>
          <p:cNvSpPr/>
          <p:nvPr/>
        </p:nvSpPr>
        <p:spPr>
          <a:xfrm>
            <a:off x="661492" y="5008861"/>
            <a:ext cx="533995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458" dirty="0"/>
          </a:p>
        </p:txBody>
      </p:sp>
      <p:sp>
        <p:nvSpPr>
          <p:cNvPr id="19" name="Text 17"/>
          <p:cNvSpPr/>
          <p:nvPr/>
        </p:nvSpPr>
        <p:spPr>
          <a:xfrm>
            <a:off x="6190457" y="4159052"/>
            <a:ext cx="18901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458" dirty="0"/>
          </a:p>
        </p:txBody>
      </p:sp>
      <p:sp>
        <p:nvSpPr>
          <p:cNvPr id="20" name="Shape 18"/>
          <p:cNvSpPr/>
          <p:nvPr/>
        </p:nvSpPr>
        <p:spPr>
          <a:xfrm>
            <a:off x="6190457" y="4454922"/>
            <a:ext cx="5339953" cy="254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57" y="4600178"/>
            <a:ext cx="251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833" dirty="0"/>
          </a:p>
        </p:txBody>
      </p:sp>
      <p:sp>
        <p:nvSpPr>
          <p:cNvPr id="22" name="Text 20"/>
          <p:cNvSpPr/>
          <p:nvPr/>
        </p:nvSpPr>
        <p:spPr>
          <a:xfrm>
            <a:off x="6190457" y="5008861"/>
            <a:ext cx="533995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</a:t>
            </a:r>
            <a:r>
              <a:rPr lang="en-US" sz="1458" dirty="0" smtClean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 </a:t>
            </a:r>
            <a:r>
              <a:rPr lang="en-US" sz="1458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analysis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737624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15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KPIs: 3,900 orders, with about 80% from Loyal customers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856184"/>
            <a:ext cx="3505112" cy="1626195"/>
          </a:xfrm>
          <a:prstGeom prst="roundRect">
            <a:avLst>
              <a:gd name="adj" fmla="val 703"/>
            </a:avLst>
          </a:prstGeom>
          <a:solidFill>
            <a:srgbClr val="F7F1E5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084784"/>
            <a:ext cx="3276518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dirty="0">
                <a:solidFill>
                  <a:srgbClr val="A3232E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3,900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38179" y="2719784"/>
            <a:ext cx="327651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Total orders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19489" y="1856184"/>
            <a:ext cx="3352716" cy="1626195"/>
          </a:xfrm>
          <a:prstGeom prst="roundRect">
            <a:avLst>
              <a:gd name="adj" fmla="val 703"/>
            </a:avLst>
          </a:prstGeom>
          <a:solidFill>
            <a:srgbClr val="F7F1E5"/>
          </a:solidFill>
          <a:ln/>
        </p:spPr>
      </p:sp>
      <p:sp>
        <p:nvSpPr>
          <p:cNvPr id="7" name="Text 5"/>
          <p:cNvSpPr/>
          <p:nvPr/>
        </p:nvSpPr>
        <p:spPr>
          <a:xfrm>
            <a:off x="4648084" y="2084784"/>
            <a:ext cx="3124122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3,116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48084" y="2719784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Loyal customer orders, about 80% of orders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76998" y="1856184"/>
            <a:ext cx="3505112" cy="1626195"/>
          </a:xfrm>
          <a:prstGeom prst="roundRect">
            <a:avLst>
              <a:gd name="adj" fmla="val 703"/>
            </a:avLst>
          </a:prstGeom>
          <a:solidFill>
            <a:srgbClr val="F7F1E5"/>
          </a:solidFill>
          <a:ln/>
        </p:spPr>
      </p:sp>
      <p:sp>
        <p:nvSpPr>
          <p:cNvPr id="10" name="Text 8"/>
          <p:cNvSpPr/>
          <p:nvPr/>
        </p:nvSpPr>
        <p:spPr>
          <a:xfrm>
            <a:off x="8305592" y="2084784"/>
            <a:ext cx="3276518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$58 to $60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05592" y="2719784"/>
            <a:ext cx="327651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Average order value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9585" y="3787180"/>
            <a:ext cx="3505112" cy="1626195"/>
          </a:xfrm>
          <a:prstGeom prst="roundRect">
            <a:avLst>
              <a:gd name="adj" fmla="val 703"/>
            </a:avLst>
          </a:prstGeom>
          <a:solidFill>
            <a:srgbClr val="F7F1E5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79" y="4015780"/>
            <a:ext cx="3276518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3.76 / 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8179" y="4650780"/>
            <a:ext cx="304792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Average review rating as reported (3.75 in the satisfaction section)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19489" y="3787180"/>
            <a:ext cx="3352716" cy="1626195"/>
          </a:xfrm>
          <a:prstGeom prst="roundRect">
            <a:avLst>
              <a:gd name="adj" fmla="val 703"/>
            </a:avLst>
          </a:prstGeom>
          <a:solidFill>
            <a:srgbClr val="F7F1E5"/>
          </a:solidFill>
          <a:ln/>
        </p:spPr>
      </p:sp>
      <p:sp>
        <p:nvSpPr>
          <p:cNvPr id="16" name="Text 14"/>
          <p:cNvSpPr/>
          <p:nvPr/>
        </p:nvSpPr>
        <p:spPr>
          <a:xfrm>
            <a:off x="4648084" y="4015780"/>
            <a:ext cx="3124122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1,737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48084" y="4650780"/>
            <a:ext cx="289552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Largest category by orders: Clothing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76998" y="3787180"/>
            <a:ext cx="3505112" cy="1626195"/>
          </a:xfrm>
          <a:prstGeom prst="roundRect">
            <a:avLst>
              <a:gd name="adj" fmla="val 703"/>
            </a:avLst>
          </a:prstGeom>
          <a:solidFill>
            <a:srgbClr val="F7F1E5"/>
          </a:solidFill>
          <a:ln/>
        </p:spPr>
      </p:sp>
      <p:sp>
        <p:nvSpPr>
          <p:cNvPr id="19" name="Text 17"/>
          <p:cNvSpPr/>
          <p:nvPr/>
        </p:nvSpPr>
        <p:spPr>
          <a:xfrm>
            <a:off x="8305592" y="4015780"/>
            <a:ext cx="3276518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000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675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305592" y="4650780"/>
            <a:ext cx="304792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Highest-volume shipping type: Free Shipping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0223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15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and sales performance: $230,672 revenue across 3,900 orders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85280"/>
            <a:ext cx="6502237" cy="3921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30992" y="1513582"/>
            <a:ext cx="3251119" cy="3830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Clothing and Accessories lead revenue-generating categories.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Discounted orders: 1,677 orders, $99,411 revenue (62.96% of the discount-split revenue), AOV $59.28; non-discounted AOV $59.98.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AOV is nearly identical with and without discounts overall.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715057" y="0"/>
            <a:ext cx="12700" cy="6858000"/>
          </a:xfrm>
          <a:prstGeom prst="rect">
            <a:avLst/>
          </a:prstGeom>
          <a:solidFill>
            <a:srgbClr val="7A5A1C">
              <a:alpha val="55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29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kern="0" spc="-12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categories: Clothing is 44.5% of orders and 44.7% of revenue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49" y="2124174"/>
            <a:ext cx="3154581" cy="315466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57643"/>
              </p:ext>
            </p:extLst>
          </p:nvPr>
        </p:nvGraphicFramePr>
        <p:xfrm>
          <a:off x="3653330" y="1274618"/>
          <a:ext cx="7856176" cy="427900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543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8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51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/>
                        <a:t>CATEGORY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0" spc="238" dirty="0"/>
                        <a:t>ORDERS</a:t>
                      </a:r>
                      <a:endParaRPr lang="en-US" sz="16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/>
                        <a:t>ORDER </a:t>
                      </a:r>
                      <a:endParaRPr lang="en-US" sz="1700" kern="0" spc="238" dirty="0" smtClean="0"/>
                    </a:p>
                    <a:p>
                      <a:pPr marL="0" indent="0" algn="l">
                        <a:buNone/>
                      </a:pPr>
                      <a:r>
                        <a:rPr lang="en-US" sz="1700" kern="0" spc="238" dirty="0" smtClean="0"/>
                        <a:t>SHARE </a:t>
                      </a:r>
                      <a:r>
                        <a:rPr lang="en-US" sz="1700" kern="0" spc="238" dirty="0"/>
                        <a:t>%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/>
                        <a:t>REVENUE ($)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/>
                        <a:t>REVENUE SHARE %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Clothing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1,737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44.54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104,264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44.73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8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Accessories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1,240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31.79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31,791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31.83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Footwear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599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15.36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36,093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15.49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Outerwear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324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8.31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18,524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7.95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7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Total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3,900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100.00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230,672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/>
                        <a:t>100.00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057337" y="5747935"/>
            <a:ext cx="736085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order share and revenue share are closely aligned in every category.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11225"/>
            <a:ext cx="4267093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600" dirty="0">
                <a:solidFill>
                  <a:srgbClr val="A3232E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80%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09585" y="2324100"/>
            <a:ext cx="42670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0" spc="175" dirty="0">
                <a:solidFill>
                  <a:srgbClr val="7A5A1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OF ORDERS FROM LOYAL CUSTOMERS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708275"/>
            <a:ext cx="3657509" cy="3238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263" y="1214239"/>
            <a:ext cx="6095848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15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Segmentation and loyalty: Loyal customers place 3,116 of 3,900 orders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263" y="2664520"/>
            <a:ext cx="6095848" cy="297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Segments by previous purchases: New (1), Regular (2 to 10), Loyal (more than 10)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Loyal customers account for about 80% of orders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Discount adoption: Loyal 43.65%, Regular 40.43%, a modest gap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Metrics to monitor: repeat purchase behavior, customer lifetime value, purchase frequency, AOV by segment, category preference, promotional dependence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870328" y="0"/>
            <a:ext cx="12700" cy="6858000"/>
          </a:xfrm>
          <a:prstGeom prst="rect">
            <a:avLst/>
          </a:prstGeom>
          <a:solidFill>
            <a:srgbClr val="7A5A1C">
              <a:alpha val="55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876678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15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Demographics: balanced across age groups, discounts differ by gender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228344"/>
              </p:ext>
            </p:extLst>
          </p:nvPr>
        </p:nvGraphicFramePr>
        <p:xfrm>
          <a:off x="609585" y="2459434"/>
          <a:ext cx="5181614" cy="3173532"/>
        </p:xfrm>
        <a:graphic>
          <a:graphicData uri="http://schemas.openxmlformats.org/drawingml/2006/table">
            <a:tbl>
              <a:tblPr/>
              <a:tblGrid>
                <a:gridCol w="2072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3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AGE GROUP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ORDERS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REVENUE ($)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3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Young Adult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1,028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62,143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3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Middle Age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986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59,197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3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Adult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942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55,978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Senior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944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55,763</a:t>
                      </a:r>
                      <a:endParaRPr lang="en-US" sz="170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705432" y="1886347"/>
            <a:ext cx="4876678" cy="195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no single age group dominates.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Gender: 2,652 male orders, 1,248 female orders.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all 1,677 discounted transactions are male (63.24% of male orders); none for female customers.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705432" y="4032548"/>
            <a:ext cx="487667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A3232E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dataset cannot explain why; targeting, product mix, exposure or data capture are all possible.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089498" y="0"/>
            <a:ext cx="12700" cy="6858000"/>
          </a:xfrm>
          <a:prstGeom prst="rect">
            <a:avLst/>
          </a:prstGeom>
          <a:solidFill>
            <a:srgbClr val="7A5A1C">
              <a:alpha val="55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689458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15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Discounts: usage is broad, the AOV association varies by category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7655"/>
            <a:ext cx="5689458" cy="42325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8212" y="1297186"/>
            <a:ext cx="4063898" cy="4285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Discount adoption by age is narrow: 41.68% (Middle Age) to 44.17% (Senior); overall 42.99%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Footwear: discounted AOV $61.80 vs $59.08 without, +$2.72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Outerwear: discounted AOV $55.32 vs $58.66 without, -$3.34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Clothing shows almost no difference; Accessories and Outerwear are lower with discounts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Association only: the analysis does not show that discounts caused these differences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902277" y="0"/>
            <a:ext cx="12700" cy="6879828"/>
          </a:xfrm>
          <a:prstGeom prst="rect">
            <a:avLst/>
          </a:prstGeom>
          <a:solidFill>
            <a:srgbClr val="7A5A1C">
              <a:alpha val="55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0" spc="-15" dirty="0">
                <a:solidFill>
                  <a:srgbClr val="3A214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Shipping: Free Shipping leads volume and revenue at a $60.41 AOV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845270"/>
            <a:ext cx="4206075" cy="420618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72749" y="1775321"/>
          <a:ext cx="6309361" cy="3951980"/>
        </p:xfrm>
        <a:graphic>
          <a:graphicData uri="http://schemas.openxmlformats.org/drawingml/2006/table">
            <a:tbl>
              <a:tblPr/>
              <a:tblGrid>
                <a:gridCol w="214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4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SHIPPING TYPE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AOV ($)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REVENUE ($)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238" dirty="0">
                          <a:solidFill>
                            <a:srgbClr val="7A5A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ORDERS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Free Shipping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60.41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40,777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675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Standard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58.46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38,233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654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Store Pickup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59.89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38,931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650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Next Day Air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58.63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37,993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648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3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Express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60.48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39,067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646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9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2-Day Shipping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60.73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38,080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5201C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627</a:t>
                      </a:r>
                      <a:endParaRPr lang="en-US" sz="14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A1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272749" y="5854402"/>
            <a:ext cx="630936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25201C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Observed: AOV range across methods is narrow ($58.46 to $60.73).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580</Words>
  <Application>Microsoft Office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Brygada 1918</vt:lpstr>
      <vt:lpstr>Libre Baskerville</vt:lpstr>
      <vt:lpstr>Marcellus</vt:lpstr>
      <vt:lpstr>Arial</vt:lpstr>
      <vt:lpstr>Libre Baskerville Light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3</cp:revision>
  <dcterms:created xsi:type="dcterms:W3CDTF">2026-10-01T03:40:43Z</dcterms:created>
  <dcterms:modified xsi:type="dcterms:W3CDTF">2026-10-01T15:07:13Z</dcterms:modified>
</cp:coreProperties>
</file>